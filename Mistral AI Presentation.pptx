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Space Grotesk Light"/>
      <p:regular r:id="rId16"/>
      <p:bold r:id="rId17"/>
    </p:embeddedFont>
    <p:embeddedFont>
      <p:font typeface="Space Grotesk Medium"/>
      <p:regular r:id="rId18"/>
      <p:bold r:id="rId19"/>
    </p:embeddedFon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21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SpaceGroteskLight-bold.fntdata"/><Relationship Id="rId16" Type="http://schemas.openxmlformats.org/officeDocument/2006/relationships/font" Target="fonts/SpaceGroteskLight-regular.fntdata"/><Relationship Id="rId19" Type="http://schemas.openxmlformats.org/officeDocument/2006/relationships/font" Target="fonts/SpaceGroteskMedium-bold.fntdata"/><Relationship Id="rId18" Type="http://schemas.openxmlformats.org/officeDocument/2006/relationships/font" Target="fonts/SpaceGrotesk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4870fc17c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4870fc17c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4870fc17c_0_1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4870fc17c_0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4870fc17c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4870fc17c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Solution A - </a:t>
            </a:r>
            <a:r>
              <a:rPr lang="en">
                <a:solidFill>
                  <a:schemeClr val="dk1"/>
                </a:solidFill>
              </a:rPr>
              <a:t>The agent can </a:t>
            </a:r>
            <a:r>
              <a:rPr b="1" lang="en">
                <a:solidFill>
                  <a:schemeClr val="dk1"/>
                </a:solidFill>
              </a:rPr>
              <a:t>scrape verified rental platforms</a:t>
            </a:r>
            <a:r>
              <a:rPr lang="en">
                <a:solidFill>
                  <a:schemeClr val="dk1"/>
                </a:solidFill>
              </a:rPr>
              <a:t> and government housing portals.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Filter options by </a:t>
            </a:r>
            <a:r>
              <a:rPr b="1" lang="en">
                <a:solidFill>
                  <a:schemeClr val="dk1"/>
                </a:solidFill>
              </a:rPr>
              <a:t>budget, location, amenities, and eligibility</a:t>
            </a:r>
            <a:r>
              <a:rPr lang="en">
                <a:solidFill>
                  <a:schemeClr val="dk1"/>
                </a:solidFill>
              </a:rPr>
              <a:t> for social housing.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 a </a:t>
            </a:r>
            <a:r>
              <a:rPr b="1" lang="en">
                <a:solidFill>
                  <a:schemeClr val="dk1"/>
                </a:solidFill>
              </a:rPr>
              <a:t>ranked shortlist</a:t>
            </a:r>
            <a:r>
              <a:rPr lang="en">
                <a:solidFill>
                  <a:schemeClr val="dk1"/>
                </a:solidFill>
              </a:rPr>
              <a:t> of suitable options.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Solution B - </a:t>
            </a:r>
            <a:r>
              <a:rPr lang="en">
                <a:solidFill>
                  <a:schemeClr val="dk1"/>
                </a:solidFill>
              </a:rPr>
              <a:t>Step-by-step </a:t>
            </a:r>
            <a:r>
              <a:rPr b="1" lang="en">
                <a:solidFill>
                  <a:schemeClr val="dk1"/>
                </a:solidFill>
              </a:rPr>
              <a:t>guidance through social housing applications</a:t>
            </a:r>
            <a:r>
              <a:rPr lang="en">
                <a:solidFill>
                  <a:schemeClr val="dk1"/>
                </a:solidFill>
              </a:rPr>
              <a:t>, including required documents.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Eligibility checker</a:t>
            </a:r>
            <a:r>
              <a:rPr lang="en">
                <a:solidFill>
                  <a:schemeClr val="dk1"/>
                </a:solidFill>
              </a:rPr>
              <a:t> to see which housing programs she qualifies for.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Tracking system</a:t>
            </a:r>
            <a:r>
              <a:rPr lang="en">
                <a:solidFill>
                  <a:schemeClr val="dk1"/>
                </a:solidFill>
              </a:rPr>
              <a:t> for application status and reminders for follow-ups.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Solution C - 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Pre-fill forms where possible using stored info.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Keep </a:t>
            </a:r>
            <a:r>
              <a:rPr b="1" lang="en">
                <a:solidFill>
                  <a:schemeClr val="dk1"/>
                </a:solidFill>
              </a:rPr>
              <a:t>digital copies of ID, payslips, and reference letters</a:t>
            </a:r>
            <a:r>
              <a:rPr lang="en">
                <a:solidFill>
                  <a:schemeClr val="dk1"/>
                </a:solidFill>
              </a:rPr>
              <a:t> ready.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Auto-submit applications to multiple platforms with her approval.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4870fc17c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c4870fc17c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Solution A:</a:t>
            </a:r>
            <a:br>
              <a:rPr lang="en"/>
            </a:br>
            <a:r>
              <a:rPr lang="en">
                <a:solidFill>
                  <a:schemeClr val="dk1"/>
                </a:solidFill>
              </a:rPr>
              <a:t>Jarrah inputs his symptoms, medical history, and risk factors into the agent. The system: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Assesses urgency using evidence-based triage logic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Flags high-risk indicators (e.g., chronic disease markers common in Aboriginal populations)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Recommends the appropriate next step: ED, GP, telehealth, or community clinic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Generates a structured symptom summary he can show a doctor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Impact: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Reduces dangerous delays, prevents unnecessary emergency visits, and ensures Jarrah is prioritised appropriately within an overloaded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Solution B: </a:t>
            </a:r>
            <a:br>
              <a:rPr lang="en"/>
            </a:br>
            <a:r>
              <a:rPr lang="en">
                <a:solidFill>
                  <a:schemeClr val="dk1"/>
                </a:solidFill>
              </a:rPr>
              <a:t>The agent prioritises: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Aboriginal Community Controlled Health Services (ACCHS)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Indigenous-led clinics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Providers trained in culturally safe practice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Services eligible under Close the Gap initiatives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also: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Explains care rights clearly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Identifies bulk-billing Aboriginal services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Flags programs designed specifically for First Nations patients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Impact: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Builds trust, improves adherence to treatment, and reduces systemic barriers that contribute to the 6.8-year life expectancy gap.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not just access — it’s culturally safe access.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Solution C: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Jarrah lives in regional NSW, access isn’t just about availability — it’s about geography.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agent: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Maps nearby specialists, mobile clinics, telehealth providers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Compares public vs private wait times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Identifies hospitals with shorter elective surgery queues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Notifies Jarrah of cancellations or earlier openings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Optimises travel time vs urgency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may even suggest: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Telehealth first → in-person specialist second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Alternative regional hubs with shorter delays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Impact: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Transforms regional disadvantage into navigable data. Jarrah doesn’t just wait — he strategises.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4870fc17c_0_1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c4870fc17c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c4870fc17c_0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c4870fc17c_0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4870fc17c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c4870fc17c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c4870fc17c_0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c4870fc17c_0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4870fc17c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c4870fc17c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9" name="Google Shape;59;p14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60" name="Google Shape;60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8" name="Google Shape;68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6" name="Google Shape;76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100" name="Google Shape;100;p1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04" name="Google Shape;104;p16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06" name="Google Shape;106;p16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2" name="Google Shape;112;p17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115" name="Google Shape;115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3" name="Google Shape;123;p17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126" name="Google Shape;126;p1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0" name="Google Shape;130;p18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" name="Google Shape;136;p19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137" name="Google Shape;137;p1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4" name="Google Shape;144;p19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50" name="Google Shape;150;p19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0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2" name="Google Shape;162;p20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0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64" name="Google Shape;164;p20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5" name="Google Shape;165;p20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69" name="Google Shape;169;p21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1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1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21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5" name="Google Shape;175;p21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79" name="Google Shape;179;p21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80" name="Google Shape;180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88" name="Google Shape;188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96" name="Google Shape;196;p21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2" name="Google Shape;202;p22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3" name="Google Shape;203;p22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4" name="Google Shape;204;p22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2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06" name="Google Shape;206;p22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207" name="Google Shape;207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215" name="Google Shape;215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223" name="Google Shape;223;p2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26" name="Google Shape;226;p22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7" name="Google Shape;227;p22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8" name="Google Shape;228;p22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2" name="Google Shape;232;p23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2" name="Google Shape;242;p24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3" name="Google Shape;243;p24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4" name="Google Shape;244;p24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5" name="Google Shape;245;p24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9" name="Google Shape;249;p24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24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9" name="Google Shape;259;p24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64" name="Google Shape;264;p25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65" name="Google Shape;265;p25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6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301" name="Google Shape;301;p2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03" name="Google Shape;303;p26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7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07" name="Google Shape;307;p27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11" name="Google Shape;311;p27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7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313" name="Google Shape;313;p27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17" name="Google Shape;317;p27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7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7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324" name="Google Shape;324;p28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325" name="Google Shape;325;p2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 rotWithShape="1">
          <a:blip r:embed="rId2">
            <a:alphaModFix/>
          </a:blip>
          <a:srcRect b="48372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4" name="Google Shape;334;p29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36" name="Google Shape;336;p29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8" name="Google Shape;338;p29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1" name="Google Shape;341;p29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3" name="Google Shape;343;p29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5" name="Google Shape;345;p29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7" name="Google Shape;347;p29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0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51" name="Google Shape;351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54" name="Google Shape;354;p30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55" name="Google Shape;355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58" name="Google Shape;358;p30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59" name="Google Shape;359;p3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61" name="Google Shape;361;p30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62" name="Google Shape;362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65" name="Google Shape;365;p30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6" name="Google Shape;366;p30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7" name="Google Shape;367;p30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8" name="Google Shape;368;p30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1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74" name="Google Shape;374;p3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78" name="Google Shape;378;p31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79" name="Google Shape;379;p31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80" name="Google Shape;380;p31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1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31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90" name="Google Shape;390;p3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3" name="Google Shape;41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8" name="Google Shape;41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9" name="Google Shape;41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" name="Google Shape;424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8" name="Google Shape;428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2" name="Google Shape;442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7" name="Google Shape;447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8" name="Google Shape;448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4" name="Google Shape;454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5" name="Google Shape;455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6" name="Google Shape;456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7" name="Google Shape;457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8" name="Google Shape;458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7" name="Google Shape;467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2" name="Google Shape;472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5" name="Google Shape;475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1" name="Google Shape;481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2" name="Google Shape;482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idx="4" type="title"/>
          </p:nvPr>
        </p:nvSpPr>
        <p:spPr>
          <a:xfrm>
            <a:off x="316475" y="734275"/>
            <a:ext cx="45873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PUBLICAI FOUNDRY</a:t>
            </a:r>
            <a:endParaRPr/>
          </a:p>
        </p:txBody>
      </p:sp>
      <p:sp>
        <p:nvSpPr>
          <p:cNvPr id="502" name="Google Shape;502;p53"/>
          <p:cNvSpPr txBox="1"/>
          <p:nvPr>
            <p:ph type="title"/>
          </p:nvPr>
        </p:nvSpPr>
        <p:spPr>
          <a:xfrm>
            <a:off x="333325" y="2603550"/>
            <a:ext cx="8494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Creating Safe AI Agents for your needs</a:t>
            </a:r>
            <a:endParaRPr/>
          </a:p>
        </p:txBody>
      </p:sp>
      <p:sp>
        <p:nvSpPr>
          <p:cNvPr id="503" name="Google Shape;503;p53"/>
          <p:cNvSpPr txBox="1"/>
          <p:nvPr>
            <p:ph idx="3" type="title"/>
          </p:nvPr>
        </p:nvSpPr>
        <p:spPr>
          <a:xfrm>
            <a:off x="333336" y="3459250"/>
            <a:ext cx="7673400" cy="6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MISTRAL AI ‘26 - SYDNEY</a:t>
            </a:r>
            <a:endParaRPr/>
          </a:p>
        </p:txBody>
      </p:sp>
      <p:sp>
        <p:nvSpPr>
          <p:cNvPr id="504" name="Google Shape;504;p53"/>
          <p:cNvSpPr txBox="1"/>
          <p:nvPr>
            <p:ph idx="2" type="title"/>
          </p:nvPr>
        </p:nvSpPr>
        <p:spPr>
          <a:xfrm>
            <a:off x="3164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TEAM ( ) - HARSHITH, PASTA, SHYAM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metal framework of a building under construction. " id="509" name="Google Shape;509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974" l="33288" r="907" t="27329"/>
          <a:stretch/>
        </p:blipFill>
        <p:spPr>
          <a:xfrm>
            <a:off x="4468800" y="908675"/>
            <a:ext cx="3936302" cy="3116101"/>
          </a:xfrm>
          <a:prstGeom prst="rect">
            <a:avLst/>
          </a:prstGeom>
        </p:spPr>
      </p:pic>
      <p:sp>
        <p:nvSpPr>
          <p:cNvPr id="510" name="Google Shape;510;p54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9"/>
              <a:t>WHAT WE’RE </a:t>
            </a:r>
            <a:endParaRPr sz="350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509"/>
              <a:t>ABOUT</a:t>
            </a:r>
            <a:endParaRPr sz="3509"/>
          </a:p>
        </p:txBody>
      </p:sp>
      <p:sp>
        <p:nvSpPr>
          <p:cNvPr id="511" name="Google Shape;511;p54"/>
          <p:cNvSpPr txBox="1"/>
          <p:nvPr>
            <p:ph idx="1" type="body"/>
          </p:nvPr>
        </p:nvSpPr>
        <p:spPr>
          <a:xfrm>
            <a:off x="252600" y="1779550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700" u="sng">
                <a:highlight>
                  <a:schemeClr val="accent5"/>
                </a:highlight>
              </a:rPr>
              <a:t>We don’t fix problems. We create stuff that fix the problems. </a:t>
            </a:r>
            <a:endParaRPr sz="1700" u="sng">
              <a:highlight>
                <a:schemeClr val="accent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700" u="sng">
              <a:highlight>
                <a:schemeClr val="accent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700" u="sng">
                <a:highlight>
                  <a:schemeClr val="accent5"/>
                </a:highlight>
              </a:rPr>
              <a:t>We don’t build agents. We build stuff that build the agents.</a:t>
            </a:r>
            <a:endParaRPr sz="1700" u="sng">
              <a:highlight>
                <a:schemeClr val="accent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700" u="sng">
              <a:highlight>
                <a:schemeClr val="accent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700" u="sng">
                <a:highlight>
                  <a:schemeClr val="accent5"/>
                </a:highlight>
              </a:rPr>
              <a:t>This is PublicAI Foundry – create an agent for whatever you need, regardless of your background in tech.</a:t>
            </a:r>
            <a:endParaRPr sz="1700" u="sng">
              <a:highlight>
                <a:schemeClr val="accent5"/>
              </a:highlight>
            </a:endParaRPr>
          </a:p>
        </p:txBody>
      </p:sp>
      <p:pic>
        <p:nvPicPr>
          <p:cNvPr descr="A group selfie with several colleagues at the office. " id="512" name="Google Shape;512;p54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1443" r="-911" t="0"/>
          <a:stretch/>
        </p:blipFill>
        <p:spPr>
          <a:xfrm>
            <a:off x="4153925" y="1728449"/>
            <a:ext cx="3586801" cy="267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descr="Portrait of a woman standing in front of a closed metal gate. " id="518" name="Google Shape;518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3138" l="383" r="12562" t="7836"/>
          <a:stretch/>
        </p:blipFill>
        <p:spPr>
          <a:xfrm>
            <a:off x="744050" y="1723797"/>
            <a:ext cx="3981549" cy="2675901"/>
          </a:xfrm>
          <a:prstGeom prst="rect">
            <a:avLst/>
          </a:prstGeom>
        </p:spPr>
      </p:pic>
      <p:grpSp>
        <p:nvGrpSpPr>
          <p:cNvPr id="519" name="Google Shape;519;p55"/>
          <p:cNvGrpSpPr/>
          <p:nvPr/>
        </p:nvGrpSpPr>
        <p:grpSpPr>
          <a:xfrm>
            <a:off x="744050" y="1410850"/>
            <a:ext cx="4043000" cy="2081375"/>
            <a:chOff x="744050" y="1654675"/>
            <a:chExt cx="4043000" cy="2081375"/>
          </a:xfrm>
        </p:grpSpPr>
        <p:grpSp>
          <p:nvGrpSpPr>
            <p:cNvPr id="520" name="Google Shape;520;p55"/>
            <p:cNvGrpSpPr/>
            <p:nvPr/>
          </p:nvGrpSpPr>
          <p:grpSpPr>
            <a:xfrm>
              <a:off x="744050" y="1945050"/>
              <a:ext cx="4043000" cy="1791000"/>
              <a:chOff x="744050" y="1837975"/>
              <a:chExt cx="4043000" cy="1791000"/>
            </a:xfrm>
          </p:grpSpPr>
          <p:sp>
            <p:nvSpPr>
              <p:cNvPr id="521" name="Google Shape;521;p55"/>
              <p:cNvSpPr/>
              <p:nvPr/>
            </p:nvSpPr>
            <p:spPr>
              <a:xfrm>
                <a:off x="1226975" y="2436358"/>
                <a:ext cx="392400" cy="40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22" name="Google Shape;522;p55"/>
              <p:cNvSpPr/>
              <p:nvPr/>
            </p:nvSpPr>
            <p:spPr>
              <a:xfrm>
                <a:off x="744050" y="3236575"/>
                <a:ext cx="741900" cy="392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23" name="Google Shape;523;p55"/>
              <p:cNvSpPr/>
              <p:nvPr/>
            </p:nvSpPr>
            <p:spPr>
              <a:xfrm>
                <a:off x="1486000" y="2351575"/>
                <a:ext cx="765000" cy="88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24" name="Google Shape;524;p55"/>
              <p:cNvSpPr/>
              <p:nvPr/>
            </p:nvSpPr>
            <p:spPr>
              <a:xfrm>
                <a:off x="3617350" y="1837975"/>
                <a:ext cx="1169700" cy="1006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sp>
          <p:nvSpPr>
            <p:cNvPr id="525" name="Google Shape;525;p55"/>
            <p:cNvSpPr/>
            <p:nvPr/>
          </p:nvSpPr>
          <p:spPr>
            <a:xfrm>
              <a:off x="1005100" y="1654675"/>
              <a:ext cx="3713100" cy="900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26" name="Google Shape;526;p55"/>
          <p:cNvSpPr txBox="1"/>
          <p:nvPr>
            <p:ph idx="5" type="title"/>
          </p:nvPr>
        </p:nvSpPr>
        <p:spPr>
          <a:xfrm>
            <a:off x="5333527" y="764389"/>
            <a:ext cx="33942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4100"/>
              <a:t>MEET REBECCA</a:t>
            </a:r>
            <a:endParaRPr sz="4100"/>
          </a:p>
        </p:txBody>
      </p:sp>
      <p:sp>
        <p:nvSpPr>
          <p:cNvPr id="527" name="Google Shape;527;p55"/>
          <p:cNvSpPr txBox="1"/>
          <p:nvPr>
            <p:ph type="title"/>
          </p:nvPr>
        </p:nvSpPr>
        <p:spPr>
          <a:xfrm>
            <a:off x="1229800" y="556850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WHAT COULD REBECCA BENEFIT FROM?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Create a personalised housing search assistant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Form a social housing waitlist navigator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Application automation and document assistant</a:t>
            </a:r>
            <a:endParaRPr sz="1400"/>
          </a:p>
        </p:txBody>
      </p:sp>
      <p:sp>
        <p:nvSpPr>
          <p:cNvPr id="528" name="Google Shape;528;p55"/>
          <p:cNvSpPr txBox="1"/>
          <p:nvPr/>
        </p:nvSpPr>
        <p:spPr>
          <a:xfrm>
            <a:off x="4787050" y="1723800"/>
            <a:ext cx="29046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Meet Rebecca, a 25-year-old UNSW grad with a degree, a job, and a dream of living in Sydney. But like 61,000+ others, she’s stuck on a 15-month waitlist for social housing, drowning in confusing applications, scam listings, and sky-high rents. She doesn’t know where to turn, who to trust, or how to break the cycle of rejection and stress.</a:t>
            </a:r>
            <a:endParaRPr sz="13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950" y="2038472"/>
            <a:ext cx="3979924" cy="26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6"/>
          <p:cNvSpPr/>
          <p:nvPr/>
        </p:nvSpPr>
        <p:spPr>
          <a:xfrm>
            <a:off x="956100" y="2038475"/>
            <a:ext cx="363900" cy="3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35" name="Google Shape;535;p56"/>
          <p:cNvSpPr/>
          <p:nvPr/>
        </p:nvSpPr>
        <p:spPr>
          <a:xfrm>
            <a:off x="1311675" y="2038475"/>
            <a:ext cx="363900" cy="8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36" name="Google Shape;536;p56"/>
          <p:cNvSpPr/>
          <p:nvPr/>
        </p:nvSpPr>
        <p:spPr>
          <a:xfrm>
            <a:off x="3829350" y="1921800"/>
            <a:ext cx="1053000" cy="78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37" name="Google Shape;537;p56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5100"/>
              <a:t>AND MEET JARRAH</a:t>
            </a:r>
            <a:endParaRPr sz="5100"/>
          </a:p>
        </p:txBody>
      </p:sp>
      <p:sp>
        <p:nvSpPr>
          <p:cNvPr id="538" name="Google Shape;538;p56"/>
          <p:cNvSpPr txBox="1"/>
          <p:nvPr>
            <p:ph type="title"/>
          </p:nvPr>
        </p:nvSpPr>
        <p:spPr>
          <a:xfrm>
            <a:off x="4804625" y="375300"/>
            <a:ext cx="3396000" cy="40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10"/>
              <a:buNone/>
            </a:pPr>
            <a:r>
              <a:rPr lang="en" sz="1411"/>
              <a:t>Jarrah is a 58-year-old Aboriginal living in regional NSW. He’s been feeling unwell for months, but the nearest specialist is hours away. </a:t>
            </a:r>
            <a:r>
              <a:rPr lang="en" sz="1411"/>
              <a:t>He also has multiple food allergies and, being away from home, is uncertain about what he can safely eat.</a:t>
            </a:r>
            <a:r>
              <a:rPr lang="en" sz="1411"/>
              <a:t> As an Aboriginal, Jarrah is three times more likely to develop chronic conditions, yet faces longer wait times for care, with elective surgeries taking a median of 322 days. He doesn’t know how to manage costs or access the right support before his condition worsens.</a:t>
            </a:r>
            <a:endParaRPr sz="141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ct val="118110"/>
              <a:buNone/>
            </a:pPr>
            <a:r>
              <a:t/>
            </a:r>
            <a:endParaRPr sz="1411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10"/>
              <a:buNone/>
            </a:pPr>
            <a:r>
              <a:rPr lang="en" sz="1411"/>
              <a:t>WHAT COULD JARRAH BENEFIT FROM?</a:t>
            </a:r>
            <a:endParaRPr sz="1411"/>
          </a:p>
          <a:p>
            <a:pPr indent="-30924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11"/>
              <a:t>AI Health Triage &amp; Risk Prioritisation</a:t>
            </a:r>
            <a:endParaRPr sz="1411"/>
          </a:p>
          <a:p>
            <a:pPr indent="-30924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11"/>
              <a:t>Culturally-Aware Care Connector</a:t>
            </a:r>
            <a:endParaRPr sz="1411"/>
          </a:p>
          <a:p>
            <a:pPr indent="-30924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11"/>
              <a:t>Regional Access Optimiser</a:t>
            </a:r>
            <a:endParaRPr sz="141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>
            <p:ph type="title"/>
          </p:nvPr>
        </p:nvSpPr>
        <p:spPr>
          <a:xfrm>
            <a:off x="210950" y="670350"/>
            <a:ext cx="40149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900"/>
              <a:t>WHAT DO REBECCA AND JARRAH HAVE IN COMMON?</a:t>
            </a:r>
            <a:endParaRPr sz="5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44" name="Google Shape;544;p57"/>
          <p:cNvSpPr txBox="1"/>
          <p:nvPr>
            <p:ph idx="1" type="subTitle"/>
          </p:nvPr>
        </p:nvSpPr>
        <p:spPr>
          <a:xfrm>
            <a:off x="5619076" y="1443613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2. NEED FOR TRUSTED GUIDANCE</a:t>
            </a:r>
            <a:endParaRPr/>
          </a:p>
        </p:txBody>
      </p:sp>
      <p:sp>
        <p:nvSpPr>
          <p:cNvPr id="545" name="Google Shape;545;p57"/>
          <p:cNvSpPr txBox="1"/>
          <p:nvPr>
            <p:ph idx="3" type="subTitle"/>
          </p:nvPr>
        </p:nvSpPr>
        <p:spPr>
          <a:xfrm>
            <a:off x="5619076" y="301213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COMPLEX PROCESSES</a:t>
            </a:r>
            <a:endParaRPr/>
          </a:p>
        </p:txBody>
      </p:sp>
      <p:sp>
        <p:nvSpPr>
          <p:cNvPr id="546" name="Google Shape;546;p57"/>
          <p:cNvSpPr txBox="1"/>
          <p:nvPr>
            <p:ph idx="2" type="subTitle"/>
          </p:nvPr>
        </p:nvSpPr>
        <p:spPr>
          <a:xfrm>
            <a:off x="5619075" y="2814375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3. PERSONALIZED CHOICES</a:t>
            </a:r>
            <a:endParaRPr/>
          </a:p>
        </p:txBody>
      </p:sp>
      <p:sp>
        <p:nvSpPr>
          <p:cNvPr id="547" name="Google Shape;547;p57"/>
          <p:cNvSpPr txBox="1"/>
          <p:nvPr>
            <p:ph idx="5" type="subTitle"/>
          </p:nvPr>
        </p:nvSpPr>
        <p:spPr>
          <a:xfrm>
            <a:off x="5619076" y="858888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052">
                <a:latin typeface="Space Grotesk"/>
                <a:ea typeface="Space Grotesk"/>
                <a:cs typeface="Space Grotesk"/>
                <a:sym typeface="Space Grotesk"/>
              </a:rPr>
              <a:t>solved by our agent guiding step-by-step through applications and referrals according to their needs </a:t>
            </a:r>
            <a:br>
              <a:rPr lang="en" sz="1052">
                <a:latin typeface="Space Grotesk"/>
                <a:ea typeface="Space Grotesk"/>
                <a:cs typeface="Space Grotesk"/>
                <a:sym typeface="Space Grotesk"/>
              </a:rPr>
            </a:br>
            <a:endParaRPr sz="1052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775"/>
          </a:p>
        </p:txBody>
      </p:sp>
      <p:sp>
        <p:nvSpPr>
          <p:cNvPr id="548" name="Google Shape;548;p57"/>
          <p:cNvSpPr txBox="1"/>
          <p:nvPr>
            <p:ph idx="6" type="subTitle"/>
          </p:nvPr>
        </p:nvSpPr>
        <p:spPr>
          <a:xfrm>
            <a:off x="5619076" y="33612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052">
                <a:latin typeface="Space Grotesk"/>
                <a:ea typeface="Space Grotesk"/>
                <a:cs typeface="Space Grotesk"/>
                <a:sym typeface="Space Grotesk"/>
              </a:rPr>
              <a:t>solved by tailoring agents to their need and wants and adding the knowledge base that they look for</a:t>
            </a:r>
            <a:br>
              <a:rPr lang="en" sz="1052">
                <a:latin typeface="Space Grotesk"/>
                <a:ea typeface="Space Grotesk"/>
                <a:cs typeface="Space Grotesk"/>
                <a:sym typeface="Space Grotesk"/>
              </a:rPr>
            </a:br>
            <a:endParaRPr sz="1052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775"/>
          </a:p>
        </p:txBody>
      </p:sp>
      <p:sp>
        <p:nvSpPr>
          <p:cNvPr id="549" name="Google Shape;549;p57"/>
          <p:cNvSpPr txBox="1"/>
          <p:nvPr>
            <p:ph idx="2" type="subTitle"/>
          </p:nvPr>
        </p:nvSpPr>
        <p:spPr>
          <a:xfrm>
            <a:off x="5619076" y="3708076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4. LIMITED ACCESS</a:t>
            </a:r>
            <a:endParaRPr/>
          </a:p>
        </p:txBody>
      </p:sp>
      <p:sp>
        <p:nvSpPr>
          <p:cNvPr id="550" name="Google Shape;550;p57"/>
          <p:cNvSpPr txBox="1"/>
          <p:nvPr>
            <p:ph idx="6" type="subTitle"/>
          </p:nvPr>
        </p:nvSpPr>
        <p:spPr>
          <a:xfrm>
            <a:off x="5619076" y="421020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052">
                <a:latin typeface="Space Grotesk"/>
                <a:ea typeface="Space Grotesk"/>
                <a:cs typeface="Space Grotesk"/>
                <a:sym typeface="Space Grotesk"/>
              </a:rPr>
              <a:t>solved by waitlist tracking, regional optimisation, and alternative pathways</a:t>
            </a:r>
            <a:br>
              <a:rPr lang="en" sz="1052">
                <a:latin typeface="Space Grotesk"/>
                <a:ea typeface="Space Grotesk"/>
                <a:cs typeface="Space Grotesk"/>
                <a:sym typeface="Space Grotesk"/>
              </a:rPr>
            </a:br>
            <a:endParaRPr sz="1052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775"/>
          </a:p>
        </p:txBody>
      </p:sp>
      <p:sp>
        <p:nvSpPr>
          <p:cNvPr id="551" name="Google Shape;551;p57"/>
          <p:cNvSpPr txBox="1"/>
          <p:nvPr>
            <p:ph idx="4" type="subTitle"/>
          </p:nvPr>
        </p:nvSpPr>
        <p:spPr>
          <a:xfrm>
            <a:off x="5619076" y="204844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22">
                <a:latin typeface="Space Grotesk"/>
                <a:ea typeface="Space Grotesk"/>
                <a:cs typeface="Space Grotesk"/>
                <a:sym typeface="Space Grotesk"/>
              </a:rPr>
              <a:t>solved by personalised AI support and culturally aware recommendation; all from trusted sources and latest trends</a:t>
            </a:r>
            <a:endParaRPr sz="1022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70"/>
              <a:buNone/>
            </a:pPr>
            <a:r>
              <a:t/>
            </a:r>
            <a:endParaRPr sz="47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58"/>
          <p:cNvGrpSpPr/>
          <p:nvPr/>
        </p:nvGrpSpPr>
        <p:grpSpPr>
          <a:xfrm>
            <a:off x="243225" y="2878407"/>
            <a:ext cx="8648233" cy="2012389"/>
            <a:chOff x="243225" y="2826700"/>
            <a:chExt cx="8648233" cy="2064200"/>
          </a:xfrm>
        </p:grpSpPr>
        <p:sp>
          <p:nvSpPr>
            <p:cNvPr id="557" name="Google Shape;557;p58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58" name="Google Shape;558;p58"/>
            <p:cNvSpPr/>
            <p:nvPr/>
          </p:nvSpPr>
          <p:spPr>
            <a:xfrm>
              <a:off x="3181192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59" name="Google Shape;559;p58"/>
            <p:cNvSpPr/>
            <p:nvPr/>
          </p:nvSpPr>
          <p:spPr>
            <a:xfrm>
              <a:off x="6119158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60" name="Google Shape;560;p58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61" name="Google Shape;561;p58"/>
            <p:cNvSpPr/>
            <p:nvPr/>
          </p:nvSpPr>
          <p:spPr>
            <a:xfrm>
              <a:off x="487140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62" name="Google Shape;562;p58"/>
            <p:cNvSpPr/>
            <p:nvPr/>
          </p:nvSpPr>
          <p:spPr>
            <a:xfrm>
              <a:off x="7804025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63" name="Google Shape;563;p58"/>
          <p:cNvSpPr txBox="1"/>
          <p:nvPr>
            <p:ph idx="5" type="body"/>
          </p:nvPr>
        </p:nvSpPr>
        <p:spPr>
          <a:xfrm>
            <a:off x="311875" y="3126450"/>
            <a:ext cx="26496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Regardless of your background in tech, we’re empowering small businesses as well as common people to help create AI Agents and use them for their needs.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100% No-Code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Less than 60s to your first AI Agent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Highly Customizable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Set of pre-made templates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564" name="Google Shape;564;p58"/>
          <p:cNvSpPr txBox="1"/>
          <p:nvPr>
            <p:ph idx="1" type="subTitle"/>
          </p:nvPr>
        </p:nvSpPr>
        <p:spPr>
          <a:xfrm>
            <a:off x="427588" y="2735239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FACT #1</a:t>
            </a:r>
            <a:endParaRPr/>
          </a:p>
        </p:txBody>
      </p:sp>
      <p:sp>
        <p:nvSpPr>
          <p:cNvPr id="565" name="Google Shape;565;p58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User can talk or chat their way to create agents or we also have the option to build it manually with a 6-step guided process.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Highly </a:t>
            </a:r>
            <a:r>
              <a:rPr lang="en"/>
              <a:t>customizable</a:t>
            </a:r>
            <a:r>
              <a:rPr lang="en"/>
              <a:t> to demographics, personal history, guardrailing, external tools, and even an entire knowledge base!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566" name="Google Shape;566;p58"/>
          <p:cNvSpPr txBox="1"/>
          <p:nvPr>
            <p:ph idx="2" type="subTitle"/>
          </p:nvPr>
        </p:nvSpPr>
        <p:spPr>
          <a:xfrm>
            <a:off x="3369000" y="2735239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FACT #2</a:t>
            </a:r>
            <a:endParaRPr/>
          </a:p>
        </p:txBody>
      </p:sp>
      <p:sp>
        <p:nvSpPr>
          <p:cNvPr id="567" name="Google Shape;567;p58"/>
          <p:cNvSpPr txBox="1"/>
          <p:nvPr>
            <p:ph idx="7" type="body"/>
          </p:nvPr>
        </p:nvSpPr>
        <p:spPr>
          <a:xfrm>
            <a:off x="6273125" y="3126450"/>
            <a:ext cx="25206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Read to deploy, the moment you create</a:t>
            </a:r>
            <a:r>
              <a:rPr lang="en"/>
              <a:t>!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Access your agents through our playground to test or use them with various LLM models (</a:t>
            </a:r>
            <a:r>
              <a:rPr lang="en"/>
              <a:t>supporting</a:t>
            </a:r>
            <a:r>
              <a:rPr lang="en"/>
              <a:t> only Mistral.AI models currently)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your ease access on whatsapp, just send your credentials and access your agents on-the-go for your needs</a:t>
            </a:r>
            <a:endParaRPr/>
          </a:p>
        </p:txBody>
      </p:sp>
      <p:sp>
        <p:nvSpPr>
          <p:cNvPr id="568" name="Google Shape;568;p58"/>
          <p:cNvSpPr txBox="1"/>
          <p:nvPr>
            <p:ph idx="3" type="subTitle"/>
          </p:nvPr>
        </p:nvSpPr>
        <p:spPr>
          <a:xfrm>
            <a:off x="6310400" y="2735245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FACT #3</a:t>
            </a:r>
            <a:endParaRPr/>
          </a:p>
        </p:txBody>
      </p:sp>
      <p:sp>
        <p:nvSpPr>
          <p:cNvPr id="569" name="Google Shape;569;p58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 DOES OUR PUBLICAI FOUNDRY WORK?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9"/>
          <p:cNvSpPr/>
          <p:nvPr/>
        </p:nvSpPr>
        <p:spPr>
          <a:xfrm>
            <a:off x="3598275" y="1682333"/>
            <a:ext cx="1696200" cy="136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75" name="Google Shape;575;p59"/>
          <p:cNvSpPr/>
          <p:nvPr/>
        </p:nvSpPr>
        <p:spPr>
          <a:xfrm>
            <a:off x="5395874" y="1682333"/>
            <a:ext cx="1696200" cy="136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76" name="Google Shape;576;p59"/>
          <p:cNvSpPr/>
          <p:nvPr/>
        </p:nvSpPr>
        <p:spPr>
          <a:xfrm>
            <a:off x="7193472" y="1682333"/>
            <a:ext cx="1696200" cy="136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77" name="Google Shape;577;p59"/>
          <p:cNvSpPr txBox="1"/>
          <p:nvPr>
            <p:ph idx="1" type="body"/>
          </p:nvPr>
        </p:nvSpPr>
        <p:spPr>
          <a:xfrm>
            <a:off x="3638775" y="1785275"/>
            <a:ext cx="1655700" cy="11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Unlike standard AI models, it doesn’t just answer questions 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it lets you build specialised agents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for housing, healthcare, legal aid, and more.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9"/>
          <p:cNvSpPr txBox="1"/>
          <p:nvPr>
            <p:ph idx="6" type="subTitle"/>
          </p:nvPr>
        </p:nvSpPr>
        <p:spPr>
          <a:xfrm>
            <a:off x="3578225" y="1480950"/>
            <a:ext cx="1574700" cy="17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200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Accessible</a:t>
            </a:r>
            <a:endParaRPr sz="1200"/>
          </a:p>
        </p:txBody>
      </p:sp>
      <p:sp>
        <p:nvSpPr>
          <p:cNvPr id="579" name="Google Shape;579;p59"/>
          <p:cNvSpPr txBox="1"/>
          <p:nvPr>
            <p:ph idx="4" type="body"/>
          </p:nvPr>
        </p:nvSpPr>
        <p:spPr>
          <a:xfrm>
            <a:off x="5463375" y="1727825"/>
            <a:ext cx="1598400" cy="11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Users don’t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design systems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; they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describe problems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 The platform understands the need and turns it into a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working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AI solution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through natural conversation.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9"/>
          <p:cNvSpPr txBox="1"/>
          <p:nvPr>
            <p:ph idx="7" type="subTitle"/>
          </p:nvPr>
        </p:nvSpPr>
        <p:spPr>
          <a:xfrm>
            <a:off x="5395825" y="1480950"/>
            <a:ext cx="1574700" cy="17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200"/>
              <a:t>Conversation-Based</a:t>
            </a:r>
            <a:endParaRPr sz="1200"/>
          </a:p>
        </p:txBody>
      </p:sp>
      <p:sp>
        <p:nvSpPr>
          <p:cNvPr id="581" name="Google Shape;581;p59"/>
          <p:cNvSpPr txBox="1"/>
          <p:nvPr>
            <p:ph idx="5" type="body"/>
          </p:nvPr>
        </p:nvSpPr>
        <p:spPr>
          <a:xfrm>
            <a:off x="7291325" y="1779975"/>
            <a:ext cx="1461000" cy="11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Each solution can be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tailored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to a person, community, process, or use case. It’s not one-size-fits-all bots, but purpose-built intelligence.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9"/>
          <p:cNvSpPr txBox="1"/>
          <p:nvPr>
            <p:ph idx="8" type="subTitle"/>
          </p:nvPr>
        </p:nvSpPr>
        <p:spPr>
          <a:xfrm>
            <a:off x="7213425" y="1478293"/>
            <a:ext cx="1598400" cy="17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200"/>
              <a:t>Personalizable</a:t>
            </a:r>
            <a:endParaRPr sz="1200"/>
          </a:p>
        </p:txBody>
      </p:sp>
      <p:sp>
        <p:nvSpPr>
          <p:cNvPr id="583" name="Google Shape;583;p59"/>
          <p:cNvSpPr txBox="1"/>
          <p:nvPr>
            <p:ph idx="9" type="title"/>
          </p:nvPr>
        </p:nvSpPr>
        <p:spPr>
          <a:xfrm>
            <a:off x="3596525" y="513933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SETS US APART?</a:t>
            </a:r>
            <a:endParaRPr/>
          </a:p>
        </p:txBody>
      </p:sp>
      <p:pic>
        <p:nvPicPr>
          <p:cNvPr descr="A woman laughs while standing in her office and looking up from her tablet screen. " id="584" name="Google Shape;584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078" l="0" r="0" t="3077"/>
          <a:stretch/>
        </p:blipFill>
        <p:spPr>
          <a:xfrm>
            <a:off x="0" y="0"/>
            <a:ext cx="2546699" cy="3583201"/>
          </a:xfrm>
          <a:prstGeom prst="rect">
            <a:avLst/>
          </a:prstGeom>
        </p:spPr>
      </p:pic>
      <p:pic>
        <p:nvPicPr>
          <p:cNvPr descr="A woman laughs while standing in her office and looking up from her tablet screen. " id="585" name="Google Shape;585;p5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38294" l="23936" r="23935" t="6507"/>
          <a:stretch/>
        </p:blipFill>
        <p:spPr>
          <a:xfrm>
            <a:off x="280475" y="474638"/>
            <a:ext cx="2940899" cy="4668902"/>
          </a:xfrm>
          <a:prstGeom prst="rect">
            <a:avLst/>
          </a:prstGeom>
        </p:spPr>
      </p:pic>
      <p:sp>
        <p:nvSpPr>
          <p:cNvPr id="586" name="Google Shape;586;p59"/>
          <p:cNvSpPr/>
          <p:nvPr/>
        </p:nvSpPr>
        <p:spPr>
          <a:xfrm>
            <a:off x="3598238" y="3426333"/>
            <a:ext cx="1696200" cy="136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87" name="Google Shape;587;p59"/>
          <p:cNvSpPr/>
          <p:nvPr/>
        </p:nvSpPr>
        <p:spPr>
          <a:xfrm>
            <a:off x="5395836" y="3426333"/>
            <a:ext cx="1696200" cy="136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88" name="Google Shape;588;p59"/>
          <p:cNvSpPr/>
          <p:nvPr/>
        </p:nvSpPr>
        <p:spPr>
          <a:xfrm>
            <a:off x="7193435" y="3426333"/>
            <a:ext cx="1696200" cy="136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89" name="Google Shape;589;p59"/>
          <p:cNvSpPr txBox="1"/>
          <p:nvPr>
            <p:ph idx="1" type="body"/>
          </p:nvPr>
        </p:nvSpPr>
        <p:spPr>
          <a:xfrm>
            <a:off x="3662800" y="3523975"/>
            <a:ext cx="1655700" cy="11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From a single conversation, the system automatically designs the full AI structure: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the agents, roles, workflows, tools, memory and coordination logic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590" name="Google Shape;590;p59"/>
          <p:cNvSpPr txBox="1"/>
          <p:nvPr>
            <p:ph idx="6" type="subTitle"/>
          </p:nvPr>
        </p:nvSpPr>
        <p:spPr>
          <a:xfrm>
            <a:off x="3578212" y="3197600"/>
            <a:ext cx="1574700" cy="17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200">
                <a:solidFill>
                  <a:srgbClr val="E6E8F0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Self Architecting</a:t>
            </a:r>
            <a:endParaRPr sz="1200"/>
          </a:p>
        </p:txBody>
      </p:sp>
      <p:sp>
        <p:nvSpPr>
          <p:cNvPr id="591" name="Google Shape;591;p59"/>
          <p:cNvSpPr txBox="1"/>
          <p:nvPr>
            <p:ph idx="4" type="body"/>
          </p:nvPr>
        </p:nvSpPr>
        <p:spPr>
          <a:xfrm>
            <a:off x="5460786" y="3523975"/>
            <a:ext cx="1598400" cy="11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Every solution is informed by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deep research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and structured knowledge, so systems are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built on understanding,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not guesswork.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9"/>
          <p:cNvSpPr txBox="1"/>
          <p:nvPr>
            <p:ph idx="7" type="subTitle"/>
          </p:nvPr>
        </p:nvSpPr>
        <p:spPr>
          <a:xfrm>
            <a:off x="5395837" y="3197600"/>
            <a:ext cx="1574700" cy="17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Research Guided</a:t>
            </a:r>
            <a:endParaRPr sz="1300"/>
          </a:p>
        </p:txBody>
      </p:sp>
      <p:sp>
        <p:nvSpPr>
          <p:cNvPr id="593" name="Google Shape;593;p59"/>
          <p:cNvSpPr txBox="1"/>
          <p:nvPr>
            <p:ph idx="5" type="body"/>
          </p:nvPr>
        </p:nvSpPr>
        <p:spPr>
          <a:xfrm>
            <a:off x="7291325" y="3523975"/>
            <a:ext cx="1461000" cy="12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Agents can be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built and accessed via both voice and chat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making AI interaction and creation natural, immediate, and inclusive for all users.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9"/>
          <p:cNvSpPr txBox="1"/>
          <p:nvPr>
            <p:ph idx="8" type="subTitle"/>
          </p:nvPr>
        </p:nvSpPr>
        <p:spPr>
          <a:xfrm>
            <a:off x="7193413" y="3197593"/>
            <a:ext cx="1598400" cy="17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Multimodal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0"/>
          <p:cNvSpPr/>
          <p:nvPr/>
        </p:nvSpPr>
        <p:spPr>
          <a:xfrm>
            <a:off x="4949525" y="248000"/>
            <a:ext cx="2991000" cy="12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0" name="Google Shape;600;p60"/>
          <p:cNvSpPr txBox="1"/>
          <p:nvPr>
            <p:ph idx="4294967295" type="subTitle"/>
          </p:nvPr>
        </p:nvSpPr>
        <p:spPr>
          <a:xfrm>
            <a:off x="5891450" y="370775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100">
                <a:solidFill>
                  <a:schemeClr val="lt2"/>
                </a:solidFill>
              </a:rPr>
              <a:t>Assist +67,000 individuals across New South Wales in dealing with waitlists for social housing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601" name="Google Shape;601;p60"/>
          <p:cNvSpPr/>
          <p:nvPr/>
        </p:nvSpPr>
        <p:spPr>
          <a:xfrm>
            <a:off x="6153000" y="1420300"/>
            <a:ext cx="29910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2" name="Google Shape;602;p60"/>
          <p:cNvSpPr txBox="1"/>
          <p:nvPr>
            <p:ph idx="4294967295" type="subTitle"/>
          </p:nvPr>
        </p:nvSpPr>
        <p:spPr>
          <a:xfrm>
            <a:off x="7069050" y="1513325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2"/>
                </a:solidFill>
              </a:rPr>
              <a:t>Potentially shorten referral and wait times for millions of GP and specialist visits for 30-40% of patients.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603" name="Google Shape;603;p60"/>
          <p:cNvSpPr/>
          <p:nvPr/>
        </p:nvSpPr>
        <p:spPr>
          <a:xfrm>
            <a:off x="5057775" y="2615613"/>
            <a:ext cx="2991000" cy="1254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4" name="Google Shape;604;p60"/>
          <p:cNvSpPr txBox="1"/>
          <p:nvPr>
            <p:ph idx="4294967295" type="subTitle"/>
          </p:nvPr>
        </p:nvSpPr>
        <p:spPr>
          <a:xfrm>
            <a:off x="5891450" y="2540163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Bridges gaps for </a:t>
            </a:r>
            <a:r>
              <a:rPr b="1" lang="en" sz="1100"/>
              <a:t>regional populations (~34% of NSW residents)</a:t>
            </a:r>
            <a:r>
              <a:rPr lang="en" sz="1100"/>
              <a:t> and </a:t>
            </a:r>
            <a:r>
              <a:rPr b="1" lang="en" sz="1100"/>
              <a:t>1 in 3 non-English speaking households</a:t>
            </a:r>
            <a:r>
              <a:rPr lang="en" sz="1100"/>
              <a:t>, making complex systems navigable.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0"/>
          <p:cNvSpPr/>
          <p:nvPr/>
        </p:nvSpPr>
        <p:spPr>
          <a:xfrm>
            <a:off x="3076500" y="3772500"/>
            <a:ext cx="29910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6" name="Google Shape;606;p60"/>
          <p:cNvSpPr txBox="1"/>
          <p:nvPr>
            <p:ph idx="4294967295" type="subTitle"/>
          </p:nvPr>
        </p:nvSpPr>
        <p:spPr>
          <a:xfrm>
            <a:off x="4012950" y="3934500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2"/>
                </a:solidFill>
              </a:rPr>
              <a:t>Can triage and prioritise care for 100,000+ elective surgery patients, helping reduce the dangerous 322-day median waitlist.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607" name="Google Shape;607;p60"/>
          <p:cNvSpPr/>
          <p:nvPr/>
        </p:nvSpPr>
        <p:spPr>
          <a:xfrm>
            <a:off x="252600" y="3429125"/>
            <a:ext cx="2991000" cy="1254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8" name="Google Shape;608;p60"/>
          <p:cNvSpPr txBox="1"/>
          <p:nvPr>
            <p:ph idx="4294967295" type="subTitle"/>
          </p:nvPr>
        </p:nvSpPr>
        <p:spPr>
          <a:xfrm>
            <a:off x="1112113" y="3534113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Reduces skills gaps by connecting employers with qualified candidates, addressing recruitment difficulties reported by </a:t>
            </a:r>
            <a:r>
              <a:rPr b="1" lang="en" sz="1000"/>
              <a:t>77% of NSW businesses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t/>
            </a:r>
            <a:endParaRPr sz="1000"/>
          </a:p>
        </p:txBody>
      </p:sp>
      <p:sp>
        <p:nvSpPr>
          <p:cNvPr id="609" name="Google Shape;609;p60"/>
          <p:cNvSpPr/>
          <p:nvPr/>
        </p:nvSpPr>
        <p:spPr>
          <a:xfrm>
            <a:off x="743550" y="4886747"/>
            <a:ext cx="2991000" cy="2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10" name="Google Shape;610;p60"/>
          <p:cNvSpPr/>
          <p:nvPr/>
        </p:nvSpPr>
        <p:spPr>
          <a:xfrm>
            <a:off x="6259200" y="4003350"/>
            <a:ext cx="2884800" cy="11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11" name="Google Shape;611;p60"/>
          <p:cNvSpPr txBox="1"/>
          <p:nvPr>
            <p:ph idx="4294967295" type="subTitle"/>
          </p:nvPr>
        </p:nvSpPr>
        <p:spPr>
          <a:xfrm>
            <a:off x="7133447" y="4044023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Helps bridge the </a:t>
            </a:r>
            <a:r>
              <a:rPr b="1" lang="en" sz="1000"/>
              <a:t>projected shortfall of 85,000 digital workers by 2030</a:t>
            </a:r>
            <a:r>
              <a:rPr lang="en" sz="1000"/>
              <a:t>, connecting learners to training and employment.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612" name="Google Shape;612;p60"/>
          <p:cNvSpPr/>
          <p:nvPr/>
        </p:nvSpPr>
        <p:spPr>
          <a:xfrm>
            <a:off x="8400300" y="2671550"/>
            <a:ext cx="743700" cy="125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13" name="Google Shape;613;p60"/>
          <p:cNvSpPr/>
          <p:nvPr/>
        </p:nvSpPr>
        <p:spPr>
          <a:xfrm>
            <a:off x="8147700" y="0"/>
            <a:ext cx="9963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grpSp>
        <p:nvGrpSpPr>
          <p:cNvPr id="614" name="Google Shape;614;p60"/>
          <p:cNvGrpSpPr/>
          <p:nvPr/>
        </p:nvGrpSpPr>
        <p:grpSpPr>
          <a:xfrm>
            <a:off x="5310010" y="608711"/>
            <a:ext cx="443595" cy="452628"/>
            <a:chOff x="1242900" y="238125"/>
            <a:chExt cx="5134200" cy="5238750"/>
          </a:xfrm>
        </p:grpSpPr>
        <p:sp>
          <p:nvSpPr>
            <p:cNvPr id="615" name="Google Shape;615;p6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6" name="Google Shape;616;p6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7" name="Google Shape;617;p6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0" name="Google Shape;620;p6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1" name="Google Shape;621;p6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2" name="Google Shape;622;p6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3" name="Google Shape;623;p6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4" name="Google Shape;624;p6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5" name="Google Shape;625;p6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26" name="Google Shape;626;p60"/>
          <p:cNvGrpSpPr/>
          <p:nvPr/>
        </p:nvGrpSpPr>
        <p:grpSpPr>
          <a:xfrm>
            <a:off x="6514950" y="1783686"/>
            <a:ext cx="443595" cy="452628"/>
            <a:chOff x="1242900" y="238125"/>
            <a:chExt cx="5134200" cy="5238750"/>
          </a:xfrm>
        </p:grpSpPr>
        <p:sp>
          <p:nvSpPr>
            <p:cNvPr id="627" name="Google Shape;627;p6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8" name="Google Shape;628;p6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9" name="Google Shape;629;p6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0" name="Google Shape;630;p6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1" name="Google Shape;631;p6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2" name="Google Shape;632;p6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3" name="Google Shape;633;p6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4" name="Google Shape;634;p6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5" name="Google Shape;635;p6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6" name="Google Shape;636;p6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7" name="Google Shape;637;p6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38" name="Google Shape;638;p60"/>
          <p:cNvGrpSpPr/>
          <p:nvPr/>
        </p:nvGrpSpPr>
        <p:grpSpPr>
          <a:xfrm>
            <a:off x="5422276" y="3016598"/>
            <a:ext cx="443595" cy="452628"/>
            <a:chOff x="1242900" y="238125"/>
            <a:chExt cx="5134200" cy="5238750"/>
          </a:xfrm>
        </p:grpSpPr>
        <p:sp>
          <p:nvSpPr>
            <p:cNvPr id="639" name="Google Shape;639;p6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0" name="Google Shape;640;p6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1" name="Google Shape;641;p6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2" name="Google Shape;642;p6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3" name="Google Shape;643;p6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4" name="Google Shape;644;p6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5" name="Google Shape;645;p6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6" name="Google Shape;646;p6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7" name="Google Shape;647;p6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8" name="Google Shape;648;p6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9" name="Google Shape;649;p6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50" name="Google Shape;650;p60"/>
          <p:cNvGrpSpPr/>
          <p:nvPr/>
        </p:nvGrpSpPr>
        <p:grpSpPr>
          <a:xfrm>
            <a:off x="6625447" y="4404336"/>
            <a:ext cx="443595" cy="452628"/>
            <a:chOff x="1242900" y="238125"/>
            <a:chExt cx="5134200" cy="5238750"/>
          </a:xfrm>
        </p:grpSpPr>
        <p:sp>
          <p:nvSpPr>
            <p:cNvPr id="651" name="Google Shape;651;p6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2" name="Google Shape;652;p6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3" name="Google Shape;653;p6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4" name="Google Shape;654;p6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5" name="Google Shape;655;p6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6" name="Google Shape;656;p6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7" name="Google Shape;657;p6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8" name="Google Shape;658;p6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9" name="Google Shape;659;p6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0" name="Google Shape;660;p6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1" name="Google Shape;661;p6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62" name="Google Shape;662;p60"/>
          <p:cNvGrpSpPr/>
          <p:nvPr/>
        </p:nvGrpSpPr>
        <p:grpSpPr>
          <a:xfrm>
            <a:off x="3438638" y="4133211"/>
            <a:ext cx="443595" cy="452628"/>
            <a:chOff x="1242900" y="238125"/>
            <a:chExt cx="5134200" cy="5238750"/>
          </a:xfrm>
        </p:grpSpPr>
        <p:sp>
          <p:nvSpPr>
            <p:cNvPr id="663" name="Google Shape;663;p6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4" name="Google Shape;664;p6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5" name="Google Shape;665;p6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6" name="Google Shape;666;p6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7" name="Google Shape;667;p6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8" name="Google Shape;668;p6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9" name="Google Shape;669;p6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0" name="Google Shape;670;p6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1" name="Google Shape;671;p6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2" name="Google Shape;672;p6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3" name="Google Shape;673;p6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74" name="Google Shape;674;p60"/>
          <p:cNvGrpSpPr/>
          <p:nvPr/>
        </p:nvGrpSpPr>
        <p:grpSpPr>
          <a:xfrm>
            <a:off x="615735" y="3831770"/>
            <a:ext cx="443595" cy="452628"/>
            <a:chOff x="1242900" y="238125"/>
            <a:chExt cx="5134200" cy="5238750"/>
          </a:xfrm>
        </p:grpSpPr>
        <p:sp>
          <p:nvSpPr>
            <p:cNvPr id="675" name="Google Shape;675;p6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6" name="Google Shape;676;p6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8" name="Google Shape;678;p6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9" name="Google Shape;679;p6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0" name="Google Shape;680;p6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1" name="Google Shape;681;p6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2" name="Google Shape;682;p6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5" name="Google Shape;685;p6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686" name="Google Shape;686;p60"/>
          <p:cNvSpPr txBox="1"/>
          <p:nvPr>
            <p:ph idx="1" type="subTitle"/>
          </p:nvPr>
        </p:nvSpPr>
        <p:spPr>
          <a:xfrm>
            <a:off x="229200" y="1434325"/>
            <a:ext cx="45294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050">
                <a:latin typeface="Space Grotesk"/>
                <a:ea typeface="Space Grotesk"/>
                <a:cs typeface="Space Grotesk"/>
                <a:sym typeface="Space Grotesk"/>
              </a:rPr>
              <a:t>PUBLICAI FOUNDRY has the power to transform how people access essential services across NSW. By creating personalised agents, it can help </a:t>
            </a:r>
            <a:r>
              <a:rPr b="1" lang="en" sz="1050">
                <a:latin typeface="Space Grotesk"/>
                <a:ea typeface="Space Grotesk"/>
                <a:cs typeface="Space Grotesk"/>
                <a:sym typeface="Space Grotesk"/>
              </a:rPr>
              <a:t>tens of thousands of residents</a:t>
            </a:r>
            <a:r>
              <a:rPr lang="en" sz="1050">
                <a:latin typeface="Space Grotesk"/>
                <a:ea typeface="Space Grotesk"/>
                <a:cs typeface="Space Grotesk"/>
                <a:sym typeface="Space Grotesk"/>
              </a:rPr>
              <a:t> navigate social housing, healthcare, legal aid, education, and professional opportunities more efficiently. </a:t>
            </a:r>
            <a:endParaRPr sz="105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7" name="Google Shape;687;p60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WHAT IS PUBLICAI FOUNDRY’S POTENTIAL IMPACT?</a:t>
            </a:r>
            <a:endParaRPr/>
          </a:p>
        </p:txBody>
      </p:sp>
      <p:sp>
        <p:nvSpPr>
          <p:cNvPr id="688" name="Google Shape;688;p60"/>
          <p:cNvSpPr/>
          <p:nvPr/>
        </p:nvSpPr>
        <p:spPr>
          <a:xfrm>
            <a:off x="2220995" y="2273890"/>
            <a:ext cx="2991000" cy="12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89" name="Google Shape;689;p60"/>
          <p:cNvSpPr txBox="1"/>
          <p:nvPr>
            <p:ph idx="4294967295" type="subTitle"/>
          </p:nvPr>
        </p:nvSpPr>
        <p:spPr>
          <a:xfrm>
            <a:off x="3059845" y="2368278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Could help 570,000+ NSW residents access legal aid faster by automating eligibility checks, intake forms, and referral pathways.</a:t>
            </a:r>
            <a:endParaRPr sz="900"/>
          </a:p>
        </p:txBody>
      </p:sp>
      <p:grpSp>
        <p:nvGrpSpPr>
          <p:cNvPr id="690" name="Google Shape;690;p60"/>
          <p:cNvGrpSpPr/>
          <p:nvPr/>
        </p:nvGrpSpPr>
        <p:grpSpPr>
          <a:xfrm>
            <a:off x="2529922" y="2657373"/>
            <a:ext cx="443595" cy="452628"/>
            <a:chOff x="1242900" y="238125"/>
            <a:chExt cx="5134200" cy="5238750"/>
          </a:xfrm>
        </p:grpSpPr>
        <p:sp>
          <p:nvSpPr>
            <p:cNvPr id="691" name="Google Shape;691;p6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2" name="Google Shape;692;p6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3" name="Google Shape;693;p6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4" name="Google Shape;694;p6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5" name="Google Shape;695;p6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6" name="Google Shape;696;p6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7" name="Google Shape;697;p6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8" name="Google Shape;698;p6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9" name="Google Shape;699;p6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0" name="Google Shape;700;p6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1" name="Google Shape;701;p6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 txBox="1"/>
          <p:nvPr>
            <p:ph type="title"/>
          </p:nvPr>
        </p:nvSpPr>
        <p:spPr>
          <a:xfrm>
            <a:off x="568175" y="563100"/>
            <a:ext cx="4299000" cy="38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900"/>
              <a:t>CHANGE</a:t>
            </a:r>
            <a:endParaRPr sz="7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900"/>
              <a:t>TODAY</a:t>
            </a:r>
            <a:endParaRPr sz="7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900"/>
              <a:t>WITH</a:t>
            </a:r>
            <a:endParaRPr sz="7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900"/>
              <a:t>US.</a:t>
            </a:r>
            <a:endParaRPr sz="7900"/>
          </a:p>
        </p:txBody>
      </p:sp>
      <p:sp>
        <p:nvSpPr>
          <p:cNvPr id="707" name="Google Shape;707;p61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90"/>
              <a:buNone/>
            </a:pPr>
            <a:r>
              <a:rPr lang="en" sz="4120"/>
              <a:t>THANK YOU!</a:t>
            </a:r>
            <a:endParaRPr sz="41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